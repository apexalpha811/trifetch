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441949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SESSION · MAY 2026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013651" y="1047750"/>
            <a:ext cx="42552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SPECIALTY CLINIC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351246"/>
            <a:ext cx="1648206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A52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 GUIDE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2953226"/>
            <a:ext cx="16482060" cy="2758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0" spc="-225" kern="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Questions for </a:t>
            </a:r>
            <a:pPr algn="l" indent="0" marL="0">
              <a:lnSpc>
                <a:spcPct val="102000"/>
              </a:lnSpc>
              <a:buNone/>
            </a:pPr>
            <a:r>
              <a:rPr lang="en-US" sz="10500" i="1" spc="-225" kern="0" dirty="0">
                <a:solidFill>
                  <a:srgbClr val="FA520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TriFetch.</a:t>
            </a:r>
            <a:endParaRPr lang="en-US" sz="10500" dirty="0"/>
          </a:p>
        </p:txBody>
      </p:sp>
      <p:sp>
        <p:nvSpPr>
          <p:cNvPr id="6" name="Text 4"/>
          <p:cNvSpPr/>
          <p:nvPr/>
        </p:nvSpPr>
        <p:spPr>
          <a:xfrm>
            <a:off x="1143000" y="6054566"/>
            <a:ext cx="10791825" cy="1446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55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short list of things we would love to walk through together — covering workflow, integration, automation, and the day-to-day operating picture.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43000" y="8492490"/>
            <a:ext cx="322957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8862060"/>
            <a:ext cx="3229576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TriFetch leadership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192911" y="8492490"/>
            <a:ext cx="292863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192911" y="8862060"/>
            <a:ext cx="2928632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Live conversation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950643" y="8492490"/>
            <a:ext cx="230957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TOPICS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950643" y="8862060"/>
            <a:ext cx="2309574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Ten questions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FA520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A110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047750"/>
            <a:ext cx="137255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341441" y="1047750"/>
            <a:ext cx="187975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708910"/>
            <a:ext cx="1648206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WOULD LOVE TO EXPLORE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43000" y="3310890"/>
            <a:ext cx="14716125" cy="3535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000" spc="-225" kern="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Ten questions to guide our conversation.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1143000" y="8195310"/>
            <a:ext cx="310804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— 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8545830"/>
            <a:ext cx="3108046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scope, integration depth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389120" y="8195310"/>
            <a:ext cx="310804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— 04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89120" y="8545830"/>
            <a:ext cx="3108046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Scheduling, prior authorization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635240" y="8195310"/>
            <a:ext cx="310804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— 06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35240" y="8545830"/>
            <a:ext cx="3108046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Intake routing, documentation auditing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881360" y="8195310"/>
            <a:ext cx="310804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— 08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881360" y="8545830"/>
            <a:ext cx="3108046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Customization, edge cases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4127481" y="8195310"/>
            <a:ext cx="310804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— 10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27481" y="8545830"/>
            <a:ext cx="3108046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communication, reporting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FA520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274222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01 OF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750178" y="1047750"/>
            <a:ext cx="247102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SCOPE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22070"/>
            <a:ext cx="353187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0" spc="-600" kern="0" dirty="0">
                <a:solidFill>
                  <a:srgbClr val="FA520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334000" y="3177540"/>
            <a:ext cx="1157668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SCOPE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0" y="3718560"/>
            <a:ext cx="11576685" cy="323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500" spc="-75" kern="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Could you walk us through how the platform manages the </a:t>
            </a:r>
            <a:pPr algn="l" indent="0" marL="0">
              <a:lnSpc>
                <a:spcPct val="112000"/>
              </a:lnSpc>
              <a:buNone/>
            </a:pPr>
            <a:r>
              <a:rPr lang="en-US" sz="4500" i="1" spc="-75" kern="0" dirty="0">
                <a:solidFill>
                  <a:srgbClr val="FA520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full workflow </a:t>
            </a:r>
            <a:pPr algn="l" indent="0" marL="0">
              <a:lnSpc>
                <a:spcPct val="112000"/>
              </a:lnSpc>
              <a:buNone/>
            </a:pPr>
            <a:r>
              <a:rPr lang="en-US" sz="4500" spc="-75" kern="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from pre-operative to post-operative — across front desk, clinical, and back-office — versus automating a few isolated tasks?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1143000" y="8774430"/>
            <a:ext cx="2314813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60170" y="8877300"/>
            <a:ext cx="195667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Pre-op → post-op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91163" y="8774430"/>
            <a:ext cx="1561981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08333" y="8877300"/>
            <a:ext cx="120384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Front desk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286494" y="8774430"/>
            <a:ext cx="1209318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03664" y="8877300"/>
            <a:ext cx="85117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Clinical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629162" y="8774430"/>
            <a:ext cx="1613416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46332" y="8877300"/>
            <a:ext cx="125527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Back-office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FA520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278931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02 OF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541341" y="1047750"/>
            <a:ext cx="268176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DEPTH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22070"/>
            <a:ext cx="353187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0" spc="-600" kern="0" dirty="0">
                <a:solidFill>
                  <a:srgbClr val="FA520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02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334000" y="2857500"/>
            <a:ext cx="1157668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DEPTH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0" y="3398520"/>
            <a:ext cx="11576685" cy="3878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500" spc="-75" kern="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How does the platform integrate with our electronic health record, practice management, and billing system — and can it </a:t>
            </a:r>
            <a:pPr algn="l" indent="0" marL="0">
              <a:lnSpc>
                <a:spcPct val="112000"/>
              </a:lnSpc>
              <a:buNone/>
            </a:pPr>
            <a:r>
              <a:rPr lang="en-US" sz="4500" i="1" spc="-75" kern="0" dirty="0">
                <a:solidFill>
                  <a:srgbClr val="FA520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read and push data back </a:t>
            </a:r>
            <a:pPr algn="l" indent="0" marL="0">
              <a:lnSpc>
                <a:spcPct val="112000"/>
              </a:lnSpc>
              <a:buNone/>
            </a:pPr>
            <a:r>
              <a:rPr lang="en-US" sz="4500" spc="-75" kern="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, including charges and adjustments, in real time without creating duplicate work?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1143000" y="8774430"/>
            <a:ext cx="2950250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60170" y="8877300"/>
            <a:ext cx="260441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Electronic health record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26600" y="8774430"/>
            <a:ext cx="2748439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3770" y="8877300"/>
            <a:ext cx="239655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Practice management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108389" y="8774430"/>
            <a:ext cx="1077635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25559" y="8877300"/>
            <a:ext cx="71949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Billing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19373" y="8774430"/>
            <a:ext cx="2797493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36543" y="8877300"/>
            <a:ext cx="244707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Bidirectional, real time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FA520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279250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03 OF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639443" y="1047750"/>
            <a:ext cx="361072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SCHEDULING INTELLIGENCE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22070"/>
            <a:ext cx="353187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0" spc="-600" kern="0" dirty="0">
                <a:solidFill>
                  <a:srgbClr val="FA520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03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334000" y="3497580"/>
            <a:ext cx="1157668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SCHEDULING INTELLIGENCE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0" y="4038600"/>
            <a:ext cx="11576685" cy="2598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500" spc="-75" kern="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How does the platform help optimize </a:t>
            </a:r>
            <a:pPr algn="l" indent="0" marL="0">
              <a:lnSpc>
                <a:spcPct val="112000"/>
              </a:lnSpc>
              <a:buNone/>
            </a:pPr>
            <a:r>
              <a:rPr lang="en-US" sz="4500" i="1" spc="-75" kern="0" dirty="0">
                <a:solidFill>
                  <a:srgbClr val="FA520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block time, room turnover, and staff allocation </a:t>
            </a:r>
            <a:pPr algn="l" indent="0" marL="0">
              <a:lnSpc>
                <a:spcPct val="112000"/>
              </a:lnSpc>
              <a:buNone/>
            </a:pPr>
            <a:r>
              <a:rPr lang="en-US" sz="4500" spc="-75" kern="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— and how does it adapt when the day runs behind or last-minute changes come in?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1143000" y="8774430"/>
            <a:ext cx="1536383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60170" y="8877300"/>
            <a:ext cx="117824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Block time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12733" y="8774430"/>
            <a:ext cx="2008227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29903" y="8877300"/>
            <a:ext cx="165008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Room turnover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954310" y="8774430"/>
            <a:ext cx="2005965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1480" y="8877300"/>
            <a:ext cx="164782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Staff allocation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093625" y="8774430"/>
            <a:ext cx="2137291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0795" y="8877300"/>
            <a:ext cx="177915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Live re-planning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FA520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279949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04 OF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573602" y="1047750"/>
            <a:ext cx="367854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 AUTH &amp; VERIFICATION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22070"/>
            <a:ext cx="353187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0" spc="-600" kern="0" dirty="0">
                <a:solidFill>
                  <a:srgbClr val="FA520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04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334000" y="3177540"/>
            <a:ext cx="1157668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 AUTH &amp; VERIFICATION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0" y="3718560"/>
            <a:ext cx="11576685" cy="323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500" spc="-75" kern="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How much of </a:t>
            </a:r>
            <a:pPr algn="l" indent="0" marL="0">
              <a:lnSpc>
                <a:spcPct val="112000"/>
              </a:lnSpc>
              <a:buNone/>
            </a:pPr>
            <a:r>
              <a:rPr lang="en-US" sz="4500" i="1" spc="-75" kern="0" dirty="0">
                <a:solidFill>
                  <a:srgbClr val="FA520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prior authorization and insurance verification </a:t>
            </a:r>
            <a:pPr algn="l" indent="0" marL="0">
              <a:lnSpc>
                <a:spcPct val="112000"/>
              </a:lnSpc>
              <a:buNone/>
            </a:pPr>
            <a:r>
              <a:rPr lang="en-US" sz="4500" spc="-75" kern="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does the platform fully automate today — and where does it still need human intervention or assistance from a virtual assistant?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1143000" y="8774430"/>
            <a:ext cx="2945606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60170" y="8877300"/>
            <a:ext cx="259963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Percent fully automated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21956" y="8774430"/>
            <a:ext cx="2370773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9126" y="8877300"/>
            <a:ext cx="201263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Human in the loop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726079" y="8774430"/>
            <a:ext cx="3320772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3249" y="8877300"/>
            <a:ext cx="298605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Virtual assistant assistance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FA520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278686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05 OF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069259" y="1047750"/>
            <a:ext cx="316801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INTAKE &amp; DATA ROUTING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22070"/>
            <a:ext cx="353187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0" spc="-600" kern="0" dirty="0">
                <a:solidFill>
                  <a:srgbClr val="FA520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05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334000" y="2217420"/>
            <a:ext cx="1157668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INTAKE &amp; DATA ROUTING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0" y="2758440"/>
            <a:ext cx="11576685" cy="5158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500" spc="-75" kern="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Does the platform support </a:t>
            </a:r>
            <a:pPr algn="l" indent="0" marL="0">
              <a:lnSpc>
                <a:spcPct val="112000"/>
              </a:lnSpc>
              <a:buNone/>
            </a:pPr>
            <a:r>
              <a:rPr lang="en-US" sz="4500" i="1" spc="-75" kern="0" dirty="0">
                <a:solidFill>
                  <a:srgbClr val="FA520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automated data ingestion and cross-document synchronization </a:t>
            </a:r>
            <a:pPr algn="l" indent="0" marL="0">
              <a:lnSpc>
                <a:spcPct val="112000"/>
              </a:lnSpc>
              <a:buNone/>
            </a:pPr>
            <a:r>
              <a:rPr lang="en-US" sz="4500" spc="-75" kern="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— parsing electronic intake forms and mapping fields into role-based outputs for physician, front desk, administrative, nursing, billing, and virtual assistant workflows by configurable rules and access controls?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1143000" y="8774430"/>
            <a:ext cx="2519720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60170" y="8877300"/>
            <a:ext cx="216158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Parse and structure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96070" y="8774430"/>
            <a:ext cx="2502575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13240" y="8877300"/>
            <a:ext cx="214443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Role-based outputs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31995" y="8774430"/>
            <a:ext cx="2375416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9165" y="8877300"/>
            <a:ext cx="201727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Configurable rules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940761" y="8774430"/>
            <a:ext cx="2106573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57931" y="8877300"/>
            <a:ext cx="174843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Access controls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FA520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279324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06 OF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649445" y="1047750"/>
            <a:ext cx="360042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DOCUMENTATION AUDITING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22070"/>
            <a:ext cx="353187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0" spc="-600" kern="0" dirty="0">
                <a:solidFill>
                  <a:srgbClr val="FA520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06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334000" y="2857500"/>
            <a:ext cx="1157668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DOCUMENTATION AUDITING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0" y="3398520"/>
            <a:ext cx="11576685" cy="3878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500" spc="-75" kern="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Does the platform perform </a:t>
            </a:r>
            <a:pPr algn="l" indent="0" marL="0">
              <a:lnSpc>
                <a:spcPct val="112000"/>
              </a:lnSpc>
              <a:buNone/>
            </a:pPr>
            <a:r>
              <a:rPr lang="en-US" sz="4500" i="1" spc="-75" kern="0" dirty="0">
                <a:solidFill>
                  <a:srgbClr val="FA520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automated clinical documentation auditing </a:t>
            </a:r>
            <a:pPr algn="l" indent="0" marL="0">
              <a:lnSpc>
                <a:spcPct val="112000"/>
              </a:lnSpc>
              <a:buNone/>
            </a:pPr>
            <a:r>
              <a:rPr lang="en-US" sz="4500" spc="-75" kern="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— medical coding validation, detection of procedure notation errors, and correction recommendations for the billing team and virtual assistants?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1143000" y="8774430"/>
            <a:ext cx="3107650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60170" y="8877300"/>
            <a:ext cx="276654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Medical coding validation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84000" y="8774430"/>
            <a:ext cx="2005132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1170" y="8877300"/>
            <a:ext cx="164699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Error detection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22482" y="8774430"/>
            <a:ext cx="3493175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39652" y="8877300"/>
            <a:ext cx="316363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Correction recommendations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FA520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277374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07 OF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523595" y="1047750"/>
            <a:ext cx="373004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CUSTOMIZATION &amp; CONTROL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22070"/>
            <a:ext cx="353187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0" spc="-600" kern="0" dirty="0">
                <a:solidFill>
                  <a:srgbClr val="FA520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07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334000" y="2857500"/>
            <a:ext cx="1157668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CUSTOMIZATION &amp; CONTROL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0" y="3398520"/>
            <a:ext cx="11576685" cy="3878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500" spc="-75" kern="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How easy is it for our team to </a:t>
            </a:r>
            <a:pPr algn="l" indent="0" marL="0">
              <a:lnSpc>
                <a:spcPct val="112000"/>
              </a:lnSpc>
              <a:buNone/>
            </a:pPr>
            <a:r>
              <a:rPr lang="en-US" sz="4500" i="1" spc="-75" kern="0" dirty="0">
                <a:solidFill>
                  <a:srgbClr val="FA520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customize workflows, rules, and outputs </a:t>
            </a:r>
            <a:pPr algn="l" indent="0" marL="0">
              <a:lnSpc>
                <a:spcPct val="112000"/>
              </a:lnSpc>
              <a:buNone/>
            </a:pPr>
            <a:r>
              <a:rPr lang="en-US" sz="4500" spc="-75" kern="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— especially for billing processes and virtual assistant handoffs — without requiring your engineering team every time a payer or policy changes?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1143000" y="8774430"/>
            <a:ext cx="2950250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60170" y="8877300"/>
            <a:ext cx="260441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Self-serve configuration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26600" y="8774430"/>
            <a:ext cx="2021324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3770" y="8877300"/>
            <a:ext cx="166318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Payer changes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81274" y="8774430"/>
            <a:ext cx="1987867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98444" y="8877300"/>
            <a:ext cx="162972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Policy updates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FA520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279336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08 OF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687068" y="1047750"/>
            <a:ext cx="356167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CASES &amp; ESCALATION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22070"/>
            <a:ext cx="353187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0" spc="-600" kern="0" dirty="0">
                <a:solidFill>
                  <a:srgbClr val="FA520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08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334000" y="2857500"/>
            <a:ext cx="1157668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CASES &amp; ESCALATION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0" y="3398520"/>
            <a:ext cx="11576685" cy="3878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500" spc="-75" kern="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What happens when something falls </a:t>
            </a:r>
            <a:pPr algn="l" indent="0" marL="0">
              <a:lnSpc>
                <a:spcPct val="112000"/>
              </a:lnSpc>
              <a:buNone/>
            </a:pPr>
            <a:r>
              <a:rPr lang="en-US" sz="4500" i="1" spc="-75" kern="0" dirty="0">
                <a:solidFill>
                  <a:srgbClr val="FA520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outside the normal workflow </a:t>
            </a:r>
            <a:pPr algn="l" indent="0" marL="0">
              <a:lnSpc>
                <a:spcPct val="112000"/>
              </a:lnSpc>
              <a:buNone/>
            </a:pPr>
            <a:r>
              <a:rPr lang="en-US" sz="4500" spc="-75" kern="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— missing or conflicting data, edge cases in billing, or payer-specific quirks — and how often does a human or virtual assistant need to step in?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1143000" y="8774430"/>
            <a:ext cx="1774865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60170" y="8877300"/>
            <a:ext cx="141672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Missing data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051215" y="8774430"/>
            <a:ext cx="2086332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8385" y="8877300"/>
            <a:ext cx="172819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Conflicting data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270897" y="8774430"/>
            <a:ext cx="2643307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8067" y="8877300"/>
            <a:ext cx="228826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Payer-specific quirks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47554" y="8774430"/>
            <a:ext cx="2017990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4724" y="8877300"/>
            <a:ext cx="16598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Escalation rate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FA520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279324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09 OF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539306" y="1047750"/>
            <a:ext cx="474386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COMMUNICATION &amp; BILLING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22070"/>
            <a:ext cx="353187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0" spc="-600" kern="0" dirty="0">
                <a:solidFill>
                  <a:srgbClr val="FA520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09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334000" y="2537460"/>
            <a:ext cx="1157668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COMMUNICATION &amp; BILLING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0" y="3078480"/>
            <a:ext cx="11576685" cy="451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500" spc="-75" kern="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Does the platform handle </a:t>
            </a:r>
            <a:pPr algn="l" indent="0" marL="0">
              <a:lnSpc>
                <a:spcPct val="112000"/>
              </a:lnSpc>
              <a:buNone/>
            </a:pPr>
            <a:r>
              <a:rPr lang="en-US" sz="4500" i="1" spc="-75" kern="0" dirty="0">
                <a:solidFill>
                  <a:srgbClr val="FA520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end-to-end patient communication and billing workflows </a:t>
            </a:r>
            <a:pPr algn="l" indent="0" marL="0">
              <a:lnSpc>
                <a:spcPct val="112000"/>
              </a:lnSpc>
              <a:buNone/>
            </a:pPr>
            <a:r>
              <a:rPr lang="en-US" sz="4500" spc="-75" kern="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— and can it route specific tasks like deduction explanations, payment follow-up, or denial clarification to healthcare virtual assistants so our in-house staff focuses on higher-value work?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1143000" y="8774430"/>
            <a:ext cx="2915722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60170" y="8877300"/>
            <a:ext cx="256885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Deduction explanations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92072" y="8774430"/>
            <a:ext cx="2395895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9242" y="8877300"/>
            <a:ext cx="203775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Payment follow-up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721316" y="8774430"/>
            <a:ext cx="2384703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38486" y="8877300"/>
            <a:ext cx="202656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Denial clarification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39369" y="8774430"/>
            <a:ext cx="2925366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56539" y="8877300"/>
            <a:ext cx="257878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Virtual assistant routing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FA520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274222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10 OF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114621" y="1047750"/>
            <a:ext cx="31212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&amp; VISIBILITY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22070"/>
            <a:ext cx="353187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0" spc="-600" kern="0" dirty="0">
                <a:solidFill>
                  <a:srgbClr val="FA520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334000" y="2857500"/>
            <a:ext cx="1157668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&amp; VISIBILITY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0" y="3398520"/>
            <a:ext cx="11576685" cy="3878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500" spc="-75" kern="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What kind of </a:t>
            </a:r>
            <a:pPr algn="l" indent="0" marL="0">
              <a:lnSpc>
                <a:spcPct val="112000"/>
              </a:lnSpc>
              <a:buNone/>
            </a:pPr>
            <a:r>
              <a:rPr lang="en-US" sz="4500" i="1" spc="-75" kern="0" dirty="0">
                <a:solidFill>
                  <a:srgbClr val="FA520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reporting and operational visibility </a:t>
            </a:r>
            <a:pPr algn="l" indent="0" marL="0">
              <a:lnSpc>
                <a:spcPct val="112000"/>
              </a:lnSpc>
              <a:buNone/>
            </a:pPr>
            <a:r>
              <a:rPr lang="en-US" sz="4500" spc="-75" kern="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do we get into billing-cycle metrics, authorization delays, referral status, scheduling issues, and the workload split between in-house staff and virtual assistants?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1143000" y="8774430"/>
            <a:ext cx="2541389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60170" y="8877300"/>
            <a:ext cx="218329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Billing-cycle metrics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17739" y="8774430"/>
            <a:ext cx="2588300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34909" y="8877300"/>
            <a:ext cx="223160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Authorization delays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39389" y="8774430"/>
            <a:ext cx="1992273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56559" y="8877300"/>
            <a:ext cx="163413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Referral status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65012" y="8774430"/>
            <a:ext cx="3960019" cy="464820"/>
          </a:xfrm>
          <a:prstGeom prst="roundRect">
            <a:avLst>
              <a:gd name="adj" fmla="val 50000"/>
            </a:avLst>
          </a:prstGeom>
          <a:solidFill>
            <a:srgbClr val="FFFAEB"/>
          </a:solidFill>
          <a:ln w="7620">
            <a:solidFill>
              <a:srgbClr val="E6D5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82182" y="8877300"/>
            <a:ext cx="364447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8" kern="0" dirty="0">
                <a:solidFill>
                  <a:srgbClr val="1F1F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In-house vs. virtual assistant split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FA520F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201608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F1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OF DECK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590164" y="1047750"/>
            <a:ext cx="163103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315653"/>
            <a:ext cx="1648206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A52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TO YOU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3917633"/>
            <a:ext cx="16482060" cy="1592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0" spc="-225" kern="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Thank </a:t>
            </a:r>
            <a:pPr algn="l" indent="0" marL="0">
              <a:lnSpc>
                <a:spcPct val="102000"/>
              </a:lnSpc>
              <a:buNone/>
            </a:pPr>
            <a:r>
              <a:rPr lang="en-US" sz="12000" i="1" spc="-225" kern="0" dirty="0">
                <a:solidFill>
                  <a:srgbClr val="FA520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you.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1143000" y="5929313"/>
            <a:ext cx="10791825" cy="977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55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Happy to take these in any order, and to leave room at the end for whatever we miss.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43000" y="8862060"/>
            <a:ext cx="6122154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dirty="0">
                <a:solidFill>
                  <a:srgbClr val="1F1F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Looking forward to the conversation.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5921871" y="8964930"/>
            <a:ext cx="129932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A6A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2026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FA520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2026-05-06T00:25:45Z</dcterms:created>
  <dcterms:modified xsi:type="dcterms:W3CDTF">2026-05-06T00:25:45Z</dcterms:modified>
</cp:coreProperties>
</file>